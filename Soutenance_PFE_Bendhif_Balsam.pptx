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72" r:id="rId14"/>
    <p:sldId id="269" r:id="rId15"/>
    <p:sldId id="274" r:id="rId16"/>
    <p:sldId id="277" r:id="rId17"/>
    <p:sldId id="278" r:id="rId18"/>
    <p:sldId id="279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288" r:id="rId27"/>
    <p:sldId id="289" r:id="rId28"/>
    <p:sldId id="290" r:id="rId29"/>
    <p:sldId id="292" r:id="rId30"/>
    <p:sldId id="301" r:id="rId31"/>
    <p:sldId id="294" r:id="rId32"/>
    <p:sldId id="295" r:id="rId33"/>
    <p:sldId id="296" r:id="rId34"/>
    <p:sldId id="297" r:id="rId35"/>
    <p:sldId id="299" r:id="rId3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62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5068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69234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889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32A4C"/>
          </a:solidFill>
          <a:ln/>
        </p:spPr>
      </p:sp>
      <p:sp>
        <p:nvSpPr>
          <p:cNvPr id="6" name="Text 2"/>
          <p:cNvSpPr/>
          <p:nvPr/>
        </p:nvSpPr>
        <p:spPr>
          <a:xfrm>
            <a:off x="731520" y="895350"/>
            <a:ext cx="10728655" cy="1619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PROJECT DEFENSE</a:t>
            </a:r>
            <a:endParaRPr lang="en-US" sz="2000" dirty="0"/>
          </a:p>
        </p:txBody>
      </p:sp>
      <p:sp>
        <p:nvSpPr>
          <p:cNvPr id="7" name="Shape 3"/>
          <p:cNvSpPr/>
          <p:nvPr/>
        </p:nvSpPr>
        <p:spPr>
          <a:xfrm>
            <a:off x="5638648" y="2606040"/>
            <a:ext cx="914400" cy="32004"/>
          </a:xfrm>
          <a:prstGeom prst="rect">
            <a:avLst/>
          </a:prstGeom>
          <a:solidFill>
            <a:srgbClr val="B8892E"/>
          </a:solidFill>
          <a:ln/>
        </p:spPr>
      </p:sp>
      <p:sp>
        <p:nvSpPr>
          <p:cNvPr id="8" name="Text 4"/>
          <p:cNvSpPr/>
          <p:nvPr/>
        </p:nvSpPr>
        <p:spPr>
          <a:xfrm>
            <a:off x="914400" y="2807970"/>
            <a:ext cx="10362895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Development of an Intelligent Platform for</a:t>
            </a:r>
            <a:endParaRPr lang="en-US" sz="28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Mobile Application Analytics Reporting</a:t>
            </a:r>
            <a:endParaRPr lang="en-US" sz="2800" dirty="0"/>
          </a:p>
        </p:txBody>
      </p:sp>
      <p:sp>
        <p:nvSpPr>
          <p:cNvPr id="9" name="Text 5"/>
          <p:cNvSpPr/>
          <p:nvPr/>
        </p:nvSpPr>
        <p:spPr>
          <a:xfrm>
            <a:off x="914400" y="443484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 Bendhif Balsam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548640" y="641908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by: Zargayouna Mahdi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175608" y="641908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AI &amp; Digital Transformation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7802575" y="641908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2025-2026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500" b="1" kern="0" spc="30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66928" y="1115568"/>
            <a:ext cx="822960" cy="41148"/>
          </a:xfrm>
          <a:prstGeom prst="rect">
            <a:avLst/>
          </a:prstGeom>
          <a:solidFill>
            <a:srgbClr val="B8892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8892E"/>
          </a:solidFill>
          <a:ln/>
        </p:spPr>
      </p:sp>
      <p:sp>
        <p:nvSpPr>
          <p:cNvPr id="5" name="Text 3"/>
          <p:cNvSpPr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B8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417320" y="1673352"/>
            <a:ext cx="449564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441448"/>
            <a:ext cx="5364328" cy="0"/>
          </a:xfrm>
          <a:prstGeom prst="line">
            <a:avLst/>
          </a:prstGeom>
          <a:noFill/>
          <a:ln w="9525">
            <a:solidFill>
              <a:srgbClr val="D8DC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65176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B8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417320" y="2724912"/>
            <a:ext cx="449564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and Objectives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493008"/>
            <a:ext cx="5364328" cy="0"/>
          </a:xfrm>
          <a:prstGeom prst="line">
            <a:avLst/>
          </a:prstGeom>
          <a:noFill/>
          <a:ln w="9525">
            <a:solidFill>
              <a:srgbClr val="D8DC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70332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B8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417320" y="3776472"/>
            <a:ext cx="449564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Methodology and Pipeline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44568"/>
            <a:ext cx="5364328" cy="0"/>
          </a:xfrm>
          <a:prstGeom prst="line">
            <a:avLst/>
          </a:prstGeom>
          <a:noFill/>
          <a:ln w="9525">
            <a:solidFill>
              <a:srgbClr val="D8DC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75488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B8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417320" y="4828032"/>
            <a:ext cx="449564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and Specification of Requirements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5596128"/>
            <a:ext cx="5364328" cy="0"/>
          </a:xfrm>
          <a:prstGeom prst="line">
            <a:avLst/>
          </a:prstGeom>
          <a:noFill/>
          <a:ln w="9525">
            <a:solidFill>
              <a:srgbClr val="D8DC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78728" y="160020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B8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147408" y="1673352"/>
            <a:ext cx="449564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Understanding, Exploration &amp; Preprocessing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78728" y="2441448"/>
            <a:ext cx="5364328" cy="0"/>
          </a:xfrm>
          <a:prstGeom prst="line">
            <a:avLst/>
          </a:prstGeom>
          <a:noFill/>
          <a:ln w="9525">
            <a:solidFill>
              <a:srgbClr val="D8DC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78728" y="265176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B8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147408" y="2724912"/>
            <a:ext cx="449564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and Evaluation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278728" y="3493008"/>
            <a:ext cx="5364328" cy="0"/>
          </a:xfrm>
          <a:prstGeom prst="line">
            <a:avLst/>
          </a:prstGeom>
          <a:noFill/>
          <a:ln w="9525">
            <a:solidFill>
              <a:srgbClr val="D8DC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78728" y="370332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B8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7147408" y="3776472"/>
            <a:ext cx="449564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Visualisation, Data Storage and Web Integration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278728" y="4544568"/>
            <a:ext cx="5364328" cy="0"/>
          </a:xfrm>
          <a:prstGeom prst="line">
            <a:avLst/>
          </a:prstGeom>
          <a:noFill/>
          <a:ln w="9525">
            <a:solidFill>
              <a:srgbClr val="D8DC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78728" y="475488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B8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7147408" y="4828032"/>
            <a:ext cx="449564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278728" y="5596128"/>
            <a:ext cx="5364328" cy="0"/>
          </a:xfrm>
          <a:prstGeom prst="line">
            <a:avLst/>
          </a:prstGeom>
          <a:noFill/>
          <a:ln w="9525">
            <a:solidFill>
              <a:srgbClr val="D8DCE3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2A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B8892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0" b="1" dirty="0">
                <a:solidFill>
                  <a:srgbClr val="B8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868680" y="3429000"/>
            <a:ext cx="1018001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96112" y="4343400"/>
            <a:ext cx="822960" cy="36576"/>
          </a:xfrm>
          <a:prstGeom prst="rect">
            <a:avLst/>
          </a:prstGeom>
          <a:solidFill>
            <a:srgbClr val="B8892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4526280"/>
            <a:ext cx="999713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project, what it covers, and how it is organized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500" b="1" kern="0" spc="30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66928" y="1115568"/>
            <a:ext cx="822960" cy="41148"/>
          </a:xfrm>
          <a:prstGeom prst="rect">
            <a:avLst/>
          </a:prstGeom>
          <a:solidFill>
            <a:srgbClr val="B8892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8892E"/>
          </a:solidFill>
          <a:ln/>
        </p:spPr>
      </p:sp>
      <p:sp>
        <p:nvSpPr>
          <p:cNvPr id="5" name="Text 3"/>
          <p:cNvSpPr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INTRODUCTION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78408" y="1740216"/>
            <a:ext cx="9335262" cy="23919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dirty="0"/>
              <a:t>This project takes mobile app reporting — which today is slow, manual, and full of mistakes — and makes it fully automatic and smart, using AI. It's built on three parts: Data Engineering, Cloud Computing, and Generative AI. And it comes from a real problem I saw during my internship at </a:t>
            </a:r>
            <a:r>
              <a:rPr lang="en-US" sz="1600" b="1" dirty="0" err="1"/>
              <a:t>AppASO</a:t>
            </a:r>
            <a:r>
              <a:rPr lang="en-US" sz="1600" b="1" dirty="0"/>
              <a:t> Group</a:t>
            </a:r>
            <a:r>
              <a:rPr lang="en-US" sz="1600" dirty="0"/>
              <a:t>, which I'll explain in a minute. In the next fifteen minutes, I'll show you the problem, how I built the system, how I tested it, and what's next. Let's begin.</a:t>
            </a:r>
            <a:endParaRPr lang="en-US" sz="1600" b="1" dirty="0"/>
          </a:p>
        </p:txBody>
      </p:sp>
      <p:pic>
        <p:nvPicPr>
          <p:cNvPr id="13" name="Image 1" descr="/home/claude/newdeck/assets/logo_appaso.png">
            <a:extLst>
              <a:ext uri="{FF2B5EF4-FFF2-40B4-BE49-F238E27FC236}">
                <a16:creationId xmlns:a16="http://schemas.microsoft.com/office/drawing/2014/main" id="{F062C262-462F-423E-AF6F-A05391D764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6625" y="4045172"/>
            <a:ext cx="4295775" cy="21836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500" b="1" kern="0" spc="30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66928" y="1115568"/>
            <a:ext cx="822960" cy="41148"/>
          </a:xfrm>
          <a:prstGeom prst="rect">
            <a:avLst/>
          </a:prstGeom>
          <a:solidFill>
            <a:srgbClr val="B8892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8892E"/>
          </a:solidFill>
          <a:ln/>
        </p:spPr>
      </p:sp>
      <p:sp>
        <p:nvSpPr>
          <p:cNvPr id="5" name="Text 3"/>
          <p:cNvSpPr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INTRODUCTION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3063240"/>
            <a:ext cx="457200" cy="54864"/>
          </a:xfrm>
          <a:prstGeom prst="rect">
            <a:avLst/>
          </a:prstGeom>
          <a:solidFill>
            <a:srgbClr val="B8892E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3246120"/>
            <a:ext cx="10728655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we make mobile app performance reporting fully automatic and smarter using AI?</a:t>
            </a:r>
            <a:endParaRPr lang="en-US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2A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B8892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0" b="1" dirty="0">
                <a:solidFill>
                  <a:srgbClr val="B8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868680" y="3429000"/>
            <a:ext cx="1018001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AND OBJECTIVES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96112" y="4343400"/>
            <a:ext cx="822960" cy="36576"/>
          </a:xfrm>
          <a:prstGeom prst="rect">
            <a:avLst/>
          </a:prstGeom>
          <a:solidFill>
            <a:srgbClr val="B8892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4526280"/>
            <a:ext cx="999713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slow manual process to an automatic system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500" b="1" kern="0" spc="30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MANUAL PROCESS &amp; LIMITATIONS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66928" y="1115568"/>
            <a:ext cx="822960" cy="41148"/>
          </a:xfrm>
          <a:prstGeom prst="rect">
            <a:avLst/>
          </a:prstGeom>
          <a:solidFill>
            <a:srgbClr val="B8892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8892E"/>
          </a:solidFill>
          <a:ln/>
        </p:spPr>
      </p:sp>
      <p:sp>
        <p:nvSpPr>
          <p:cNvPr id="5" name="Text 3"/>
          <p:cNvSpPr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BUSINESS PROBLEM</a:t>
            </a:r>
            <a:endParaRPr lang="en-US" sz="1000" dirty="0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CF2D4D26-1D12-4196-B8DC-F8098F528D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2832"/>
            <a:ext cx="10976610" cy="501787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3405" y="38404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500" b="1" kern="0" spc="30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THREE PILLARS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66928" y="1115568"/>
            <a:ext cx="822960" cy="41148"/>
          </a:xfrm>
          <a:prstGeom prst="rect">
            <a:avLst/>
          </a:prstGeom>
          <a:solidFill>
            <a:srgbClr val="B8892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8892E"/>
          </a:solidFill>
          <a:ln/>
        </p:spPr>
      </p:sp>
      <p:sp>
        <p:nvSpPr>
          <p:cNvPr id="5" name="Text 3"/>
          <p:cNvSpPr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BUSINESS PROBLEM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41732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build a smart platform that automates mobile analytics reporting, start to finish</a:t>
            </a:r>
            <a:endParaRPr lang="en-US" dirty="0"/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89A2F7E2-0EA2-48E7-B4BA-50DBF3A40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47088"/>
            <a:ext cx="11094415" cy="48057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2A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B8892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0" b="1" dirty="0">
                <a:solidFill>
                  <a:srgbClr val="B8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868680" y="3429000"/>
            <a:ext cx="1018001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METHODOLOGY AND PIPELINE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96112" y="4343400"/>
            <a:ext cx="822960" cy="36576"/>
          </a:xfrm>
          <a:prstGeom prst="rect">
            <a:avLst/>
          </a:prstGeom>
          <a:solidFill>
            <a:srgbClr val="B8892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4526280"/>
            <a:ext cx="999713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pipeline works, its design, and the tools we used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500" b="1" kern="0" spc="30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METHODOLOGY — CRISP-DM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66928" y="1115568"/>
            <a:ext cx="822960" cy="41148"/>
          </a:xfrm>
          <a:prstGeom prst="rect">
            <a:avLst/>
          </a:prstGeom>
          <a:solidFill>
            <a:srgbClr val="B8892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8892E"/>
          </a:solidFill>
          <a:ln/>
        </p:spPr>
      </p:sp>
      <p:sp>
        <p:nvSpPr>
          <p:cNvPr id="5" name="Text 3"/>
          <p:cNvSpPr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METHODOLOGY</a:t>
            </a:r>
            <a:endParaRPr lang="en-US" sz="1000" dirty="0"/>
          </a:p>
        </p:txBody>
      </p:sp>
      <p:pic>
        <p:nvPicPr>
          <p:cNvPr id="38" name="Image 37">
            <a:extLst>
              <a:ext uri="{FF2B5EF4-FFF2-40B4-BE49-F238E27FC236}">
                <a16:creationId xmlns:a16="http://schemas.microsoft.com/office/drawing/2014/main" id="{61AAF3D0-BDD3-48CC-BF13-51239D9502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19" y="1156716"/>
            <a:ext cx="11643055" cy="513930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500" b="1" kern="0" spc="30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&amp; DATA COLLECTION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66928" y="1115568"/>
            <a:ext cx="822960" cy="41148"/>
          </a:xfrm>
          <a:prstGeom prst="rect">
            <a:avLst/>
          </a:prstGeom>
          <a:solidFill>
            <a:srgbClr val="B8892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8892E"/>
          </a:solidFill>
          <a:ln/>
        </p:spPr>
      </p:sp>
      <p:sp>
        <p:nvSpPr>
          <p:cNvPr id="5" name="Text 3"/>
          <p:cNvSpPr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METHODOLOGY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1554480"/>
            <a:ext cx="5318608" cy="868680"/>
          </a:xfrm>
          <a:prstGeom prst="roundRect">
            <a:avLst>
              <a:gd name="adj" fmla="val 8421"/>
            </a:avLst>
          </a:prstGeom>
          <a:solidFill>
            <a:srgbClr val="132A4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554480"/>
            <a:ext cx="50442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Play Developer API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78728" y="1554480"/>
            <a:ext cx="5318608" cy="868680"/>
          </a:xfrm>
          <a:prstGeom prst="roundRect">
            <a:avLst>
              <a:gd name="adj" fmla="val 8421"/>
            </a:avLst>
          </a:prstGeom>
          <a:solidFill>
            <a:srgbClr val="B8892E"/>
          </a:solidFill>
          <a:ln/>
        </p:spPr>
      </p:sp>
      <p:sp>
        <p:nvSpPr>
          <p:cNvPr id="10" name="Text 8"/>
          <p:cNvSpPr/>
          <p:nvPr/>
        </p:nvSpPr>
        <p:spPr>
          <a:xfrm>
            <a:off x="6415888" y="1554480"/>
            <a:ext cx="50442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 Connect API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095848" y="2423160"/>
            <a:ext cx="0" cy="502920"/>
          </a:xfrm>
          <a:prstGeom prst="line">
            <a:avLst/>
          </a:prstGeom>
          <a:noFill/>
          <a:ln w="25400">
            <a:solidFill>
              <a:srgbClr val="B8892E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992728" y="2971800"/>
            <a:ext cx="4206240" cy="777240"/>
          </a:xfrm>
          <a:prstGeom prst="roundRect">
            <a:avLst>
              <a:gd name="adj" fmla="val 9412"/>
            </a:avLst>
          </a:prstGeom>
          <a:solidFill>
            <a:srgbClr val="132A4C"/>
          </a:solidFill>
          <a:ln/>
        </p:spPr>
      </p:sp>
      <p:sp>
        <p:nvSpPr>
          <p:cNvPr id="13" name="Text 11"/>
          <p:cNvSpPr/>
          <p:nvPr/>
        </p:nvSpPr>
        <p:spPr>
          <a:xfrm>
            <a:off x="3992728" y="297180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Service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7240" y="4279392"/>
            <a:ext cx="128016" cy="128016"/>
          </a:xfrm>
          <a:prstGeom prst="rect">
            <a:avLst/>
          </a:prstGeom>
          <a:solidFill>
            <a:srgbClr val="B8892E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4160520"/>
            <a:ext cx="1008857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login: OAuth 2.0 for Google, a signed key (JWT) for Apple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77240" y="4782312"/>
            <a:ext cx="128016" cy="128016"/>
          </a:xfrm>
          <a:prstGeom prst="rect">
            <a:avLst/>
          </a:prstGeom>
          <a:solidFill>
            <a:srgbClr val="B8892E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4663440"/>
            <a:ext cx="1008857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automatically every week, no manual work needed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77240" y="5285232"/>
            <a:ext cx="128016" cy="128016"/>
          </a:xfrm>
          <a:prstGeom prst="rect">
            <a:avLst/>
          </a:prstGeom>
          <a:solidFill>
            <a:srgbClr val="B8892E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5166360"/>
            <a:ext cx="1008857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installs, ratings, reviews, and crash data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500" b="1" kern="0" spc="30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PIPELINE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66928" y="1115568"/>
            <a:ext cx="822960" cy="41148"/>
          </a:xfrm>
          <a:prstGeom prst="rect">
            <a:avLst/>
          </a:prstGeom>
          <a:solidFill>
            <a:srgbClr val="B8892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8892E"/>
          </a:solidFill>
          <a:ln/>
        </p:spPr>
      </p:sp>
      <p:sp>
        <p:nvSpPr>
          <p:cNvPr id="5" name="Text 3"/>
          <p:cNvSpPr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METHODOLOGY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298448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journey, from raw data to the final report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2148840"/>
            <a:ext cx="1834835" cy="1234440"/>
          </a:xfrm>
          <a:prstGeom prst="roundRect">
            <a:avLst>
              <a:gd name="adj" fmla="val 5926"/>
            </a:avLst>
          </a:prstGeom>
          <a:solidFill>
            <a:srgbClr val="132A4C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" y="22219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8B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04088" y="2496312"/>
            <a:ext cx="1615379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02920" y="3474720"/>
            <a:ext cx="20177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Play &amp; App Store APIs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29195" y="244602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8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2886395" y="2148840"/>
            <a:ext cx="1834835" cy="1234440"/>
          </a:xfrm>
          <a:prstGeom prst="roundRect">
            <a:avLst>
              <a:gd name="adj" fmla="val 5926"/>
            </a:avLst>
          </a:prstGeom>
          <a:solidFill>
            <a:srgbClr val="B8892E"/>
          </a:solidFill>
          <a:ln/>
        </p:spPr>
      </p:sp>
      <p:sp>
        <p:nvSpPr>
          <p:cNvPr id="14" name="Text 12"/>
          <p:cNvSpPr/>
          <p:nvPr/>
        </p:nvSpPr>
        <p:spPr>
          <a:xfrm>
            <a:off x="2996123" y="22219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8B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96123" y="2496312"/>
            <a:ext cx="1615379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794955" y="3474720"/>
            <a:ext cx="20177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21230" y="244602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8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5178430" y="2148840"/>
            <a:ext cx="1834835" cy="1234440"/>
          </a:xfrm>
          <a:prstGeom prst="roundRect">
            <a:avLst>
              <a:gd name="adj" fmla="val 5926"/>
            </a:avLst>
          </a:prstGeom>
          <a:solidFill>
            <a:srgbClr val="2C6E75"/>
          </a:solidFill>
          <a:ln/>
        </p:spPr>
      </p:sp>
      <p:sp>
        <p:nvSpPr>
          <p:cNvPr id="19" name="Text 17"/>
          <p:cNvSpPr/>
          <p:nvPr/>
        </p:nvSpPr>
        <p:spPr>
          <a:xfrm>
            <a:off x="5288158" y="22219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8B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88158" y="2496312"/>
            <a:ext cx="1615379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086990" y="3474720"/>
            <a:ext cx="20177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/ PostgreSQL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13265" y="244602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8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7470465" y="2148840"/>
            <a:ext cx="1834835" cy="1234440"/>
          </a:xfrm>
          <a:prstGeom prst="roundRect">
            <a:avLst>
              <a:gd name="adj" fmla="val 5926"/>
            </a:avLst>
          </a:prstGeom>
          <a:solidFill>
            <a:srgbClr val="48506A"/>
          </a:solidFill>
          <a:ln/>
        </p:spPr>
      </p:sp>
      <p:sp>
        <p:nvSpPr>
          <p:cNvPr id="24" name="Text 22"/>
          <p:cNvSpPr/>
          <p:nvPr/>
        </p:nvSpPr>
        <p:spPr>
          <a:xfrm>
            <a:off x="7580193" y="22219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8B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580193" y="2496312"/>
            <a:ext cx="1615379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379025" y="3474720"/>
            <a:ext cx="20177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(GPT-4o / Claude)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305300" y="244602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8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28" name="Shape 26"/>
          <p:cNvSpPr/>
          <p:nvPr/>
        </p:nvSpPr>
        <p:spPr>
          <a:xfrm>
            <a:off x="9762500" y="2148840"/>
            <a:ext cx="1834835" cy="1234440"/>
          </a:xfrm>
          <a:prstGeom prst="roundRect">
            <a:avLst>
              <a:gd name="adj" fmla="val 5926"/>
            </a:avLst>
          </a:prstGeom>
          <a:solidFill>
            <a:srgbClr val="1F3B66"/>
          </a:solidFill>
          <a:ln/>
        </p:spPr>
      </p:sp>
      <p:sp>
        <p:nvSpPr>
          <p:cNvPr id="29" name="Text 27"/>
          <p:cNvSpPr/>
          <p:nvPr/>
        </p:nvSpPr>
        <p:spPr>
          <a:xfrm>
            <a:off x="9872228" y="22219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8B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872228" y="2496312"/>
            <a:ext cx="1615379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9671060" y="3474720"/>
            <a:ext cx="20177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PPTX, Email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94360" y="4069080"/>
            <a:ext cx="11002975" cy="0"/>
          </a:xfrm>
          <a:prstGeom prst="line">
            <a:avLst/>
          </a:prstGeom>
          <a:noFill/>
          <a:ln w="15875">
            <a:solidFill>
              <a:srgbClr val="48506A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594360" y="3794760"/>
            <a:ext cx="128016" cy="128016"/>
          </a:xfrm>
          <a:prstGeom prst="rect">
            <a:avLst/>
          </a:prstGeom>
          <a:solidFill>
            <a:srgbClr val="48506A"/>
          </a:solidFill>
          <a:ln/>
        </p:spPr>
      </p:sp>
      <p:sp>
        <p:nvSpPr>
          <p:cNvPr id="34" name="Text 32"/>
          <p:cNvSpPr/>
          <p:nvPr/>
        </p:nvSpPr>
        <p:spPr>
          <a:xfrm>
            <a:off x="822960" y="3758184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8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Infrastructure — hosts every step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594360" y="4572000"/>
            <a:ext cx="4126870" cy="0"/>
          </a:xfrm>
          <a:prstGeom prst="line">
            <a:avLst/>
          </a:prstGeom>
          <a:noFill/>
          <a:ln w="15875">
            <a:solidFill>
              <a:srgbClr val="2C6E7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70465" y="4572000"/>
            <a:ext cx="4126870" cy="0"/>
          </a:xfrm>
          <a:prstGeom prst="line">
            <a:avLst/>
          </a:prstGeom>
          <a:noFill/>
          <a:ln w="15875">
            <a:solidFill>
              <a:srgbClr val="2C6E7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4360" y="4700016"/>
            <a:ext cx="128016" cy="128016"/>
          </a:xfrm>
          <a:prstGeom prst="rect">
            <a:avLst/>
          </a:prstGeom>
          <a:solidFill>
            <a:srgbClr val="2C6E75"/>
          </a:solidFill>
          <a:ln/>
        </p:spPr>
      </p:sp>
      <p:sp>
        <p:nvSpPr>
          <p:cNvPr id="38" name="Text 36"/>
          <p:cNvSpPr/>
          <p:nvPr/>
        </p:nvSpPr>
        <p:spPr>
          <a:xfrm>
            <a:off x="822960" y="466344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— packages the automation engine (Collect, Clean, Analyze, Deliver) so it runs the same way everywhere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500" b="1" kern="0" spc="30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 &amp; WHY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66928" y="1115568"/>
            <a:ext cx="822960" cy="41148"/>
          </a:xfrm>
          <a:prstGeom prst="rect">
            <a:avLst/>
          </a:prstGeom>
          <a:solidFill>
            <a:srgbClr val="B8892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8892E"/>
          </a:solidFill>
          <a:ln/>
        </p:spPr>
      </p:sp>
      <p:sp>
        <p:nvSpPr>
          <p:cNvPr id="5" name="Text 3"/>
          <p:cNvSpPr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METHODOLOGY</a:t>
            </a:r>
            <a:endParaRPr lang="en-US" sz="1000" dirty="0"/>
          </a:p>
        </p:txBody>
      </p:sp>
      <p:pic>
        <p:nvPicPr>
          <p:cNvPr id="26" name="Image 25">
            <a:extLst>
              <a:ext uri="{FF2B5EF4-FFF2-40B4-BE49-F238E27FC236}">
                <a16:creationId xmlns:a16="http://schemas.microsoft.com/office/drawing/2014/main" id="{9B220162-EA3D-41F0-ADF1-8B8335A3AE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38319"/>
            <a:ext cx="11094415" cy="507173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500" b="1" kern="0" spc="30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CLOUD &amp; N8N — WHO DOES WHAT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66928" y="1115568"/>
            <a:ext cx="822960" cy="41148"/>
          </a:xfrm>
          <a:prstGeom prst="rect">
            <a:avLst/>
          </a:prstGeom>
          <a:solidFill>
            <a:srgbClr val="B8892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8892E"/>
          </a:solidFill>
          <a:ln/>
        </p:spPr>
      </p:sp>
      <p:sp>
        <p:nvSpPr>
          <p:cNvPr id="5" name="Text 3"/>
          <p:cNvSpPr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METHODOLOGY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298448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Containerizing an app is not the same as storing data in it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1783080"/>
            <a:ext cx="6400800" cy="3611880"/>
          </a:xfrm>
          <a:prstGeom prst="roundRect">
            <a:avLst>
              <a:gd name="adj" fmla="val 2025"/>
            </a:avLst>
          </a:prstGeom>
          <a:solidFill>
            <a:srgbClr val="EEF1F6"/>
          </a:solidFill>
          <a:ln w="15875">
            <a:solidFill>
              <a:srgbClr val="48506A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777240" y="1892808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8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SERVER — hosts the environment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60120" y="2331720"/>
            <a:ext cx="5669280" cy="2651760"/>
          </a:xfrm>
          <a:prstGeom prst="roundRect">
            <a:avLst>
              <a:gd name="adj" fmla="val 2759"/>
            </a:avLst>
          </a:prstGeom>
          <a:solidFill>
            <a:srgbClr val="F3E9D3"/>
          </a:solidFill>
          <a:ln w="19050">
            <a:solidFill>
              <a:srgbClr val="B889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244144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64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 — an isolated, portable box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417320" y="3063240"/>
            <a:ext cx="4754880" cy="1280160"/>
          </a:xfrm>
          <a:prstGeom prst="roundRect">
            <a:avLst>
              <a:gd name="adj" fmla="val 5714"/>
            </a:avLst>
          </a:prstGeom>
          <a:solidFill>
            <a:srgbClr val="132A4C"/>
          </a:solidFill>
          <a:ln/>
        </p:spPr>
      </p:sp>
      <p:sp>
        <p:nvSpPr>
          <p:cNvPr id="13" name="Text 11"/>
          <p:cNvSpPr/>
          <p:nvPr/>
        </p:nvSpPr>
        <p:spPr>
          <a:xfrm>
            <a:off x="1417320" y="322783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417320" y="3685032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the workflow (runs inside Docker)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452360" y="1783080"/>
            <a:ext cx="4160520" cy="1051560"/>
          </a:xfrm>
          <a:prstGeom prst="roundRect">
            <a:avLst>
              <a:gd name="adj" fmla="val 6957"/>
            </a:avLst>
          </a:prstGeom>
          <a:solidFill>
            <a:srgbClr val="2C6E75"/>
          </a:solidFill>
          <a:ln/>
        </p:spPr>
      </p:sp>
      <p:sp>
        <p:nvSpPr>
          <p:cNvPr id="16" name="Text 14"/>
          <p:cNvSpPr/>
          <p:nvPr/>
        </p:nvSpPr>
        <p:spPr>
          <a:xfrm>
            <a:off x="7589520" y="1892808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589520" y="2286000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7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the raw data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 flipV="1">
            <a:off x="6172200" y="2308860"/>
            <a:ext cx="1280160" cy="139446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452360" y="3063240"/>
            <a:ext cx="4160520" cy="1051560"/>
          </a:xfrm>
          <a:prstGeom prst="roundRect">
            <a:avLst>
              <a:gd name="adj" fmla="val 6957"/>
            </a:avLst>
          </a:prstGeom>
          <a:solidFill>
            <a:srgbClr val="48506A"/>
          </a:solidFill>
          <a:ln/>
        </p:spPr>
      </p:sp>
      <p:sp>
        <p:nvSpPr>
          <p:cNvPr id="20" name="Text 18"/>
          <p:cNvSpPr/>
          <p:nvPr/>
        </p:nvSpPr>
        <p:spPr>
          <a:xfrm>
            <a:off x="7589520" y="3172968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/ PostgreSQL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589520" y="3566160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7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the data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 flipV="1">
            <a:off x="6172200" y="3589020"/>
            <a:ext cx="1280160" cy="11430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452360" y="4343400"/>
            <a:ext cx="4160520" cy="1051560"/>
          </a:xfrm>
          <a:prstGeom prst="roundRect">
            <a:avLst>
              <a:gd name="adj" fmla="val 6957"/>
            </a:avLst>
          </a:prstGeom>
          <a:solidFill>
            <a:srgbClr val="1F3B66"/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0" y="4453128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(GPT-4o / Claude)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589520" y="4846320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7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the analysis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72200" y="3703320"/>
            <a:ext cx="1280160" cy="116586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94360" y="5623560"/>
            <a:ext cx="54864" cy="685800"/>
          </a:xfrm>
          <a:prstGeom prst="rect">
            <a:avLst/>
          </a:prstGeom>
          <a:solidFill>
            <a:srgbClr val="B8892E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5623560"/>
            <a:ext cx="1054577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= a box that contains the application and its environment, so it can be moved and run anywhere.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32A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B8892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0" b="1" dirty="0">
                <a:solidFill>
                  <a:srgbClr val="B8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868680" y="3429000"/>
            <a:ext cx="1018001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AND SPECIFICATION OF REQUIREMENTS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96112" y="4343400"/>
            <a:ext cx="822960" cy="36576"/>
          </a:xfrm>
          <a:prstGeom prst="rect">
            <a:avLst/>
          </a:prstGeom>
          <a:solidFill>
            <a:srgbClr val="B8892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4526280"/>
            <a:ext cx="999713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the system, and what it needs to do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499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500" b="1" kern="0" spc="30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66928" y="1115568"/>
            <a:ext cx="822960" cy="41148"/>
          </a:xfrm>
          <a:prstGeom prst="rect">
            <a:avLst/>
          </a:prstGeom>
          <a:solidFill>
            <a:srgbClr val="B8892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8892E"/>
          </a:solidFill>
          <a:ln/>
        </p:spPr>
      </p:sp>
      <p:sp>
        <p:nvSpPr>
          <p:cNvPr id="5" name="Text 3"/>
          <p:cNvSpPr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REQUIREMENTS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1508760"/>
            <a:ext cx="5373472" cy="2272284"/>
          </a:xfrm>
          <a:prstGeom prst="roundRect">
            <a:avLst>
              <a:gd name="adj" fmla="val 2414"/>
            </a:avLst>
          </a:prstGeom>
          <a:solidFill>
            <a:srgbClr val="132A4C"/>
          </a:solidFill>
          <a:ln/>
        </p:spPr>
      </p:sp>
      <p:sp>
        <p:nvSpPr>
          <p:cNvPr id="8" name="Text 6"/>
          <p:cNvSpPr/>
          <p:nvPr/>
        </p:nvSpPr>
        <p:spPr>
          <a:xfrm>
            <a:off x="758952" y="1636776"/>
            <a:ext cx="5044288" cy="9543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58952" y="2554011"/>
            <a:ext cx="5044288" cy="11361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7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data from Google Play and the App Store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23864" y="1508760"/>
            <a:ext cx="5373472" cy="2272284"/>
          </a:xfrm>
          <a:prstGeom prst="roundRect">
            <a:avLst>
              <a:gd name="adj" fmla="val 2414"/>
            </a:avLst>
          </a:prstGeom>
          <a:solidFill>
            <a:srgbClr val="B8892E"/>
          </a:solidFill>
          <a:ln/>
        </p:spPr>
      </p:sp>
      <p:sp>
        <p:nvSpPr>
          <p:cNvPr id="11" name="Text 9"/>
          <p:cNvSpPr/>
          <p:nvPr/>
        </p:nvSpPr>
        <p:spPr>
          <a:xfrm>
            <a:off x="6388456" y="1636776"/>
            <a:ext cx="5044288" cy="9543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88456" y="2554011"/>
            <a:ext cx="5044288" cy="11361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7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the data and calculate the results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4360" y="4037076"/>
            <a:ext cx="5373472" cy="2272284"/>
          </a:xfrm>
          <a:prstGeom prst="roundRect">
            <a:avLst>
              <a:gd name="adj" fmla="val 2414"/>
            </a:avLst>
          </a:prstGeom>
          <a:solidFill>
            <a:srgbClr val="2C6E75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" y="4165092"/>
            <a:ext cx="5044288" cy="9543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58952" y="5082327"/>
            <a:ext cx="5044288" cy="11361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7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problems and explain them with AI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23864" y="4037076"/>
            <a:ext cx="5373472" cy="2272284"/>
          </a:xfrm>
          <a:prstGeom prst="roundRect">
            <a:avLst>
              <a:gd name="adj" fmla="val 2414"/>
            </a:avLst>
          </a:prstGeom>
          <a:solidFill>
            <a:srgbClr val="48506A"/>
          </a:solidFill>
          <a:ln/>
        </p:spPr>
      </p:sp>
      <p:sp>
        <p:nvSpPr>
          <p:cNvPr id="17" name="Text 15"/>
          <p:cNvSpPr/>
          <p:nvPr/>
        </p:nvSpPr>
        <p:spPr>
          <a:xfrm>
            <a:off x="6388456" y="4165092"/>
            <a:ext cx="5044288" cy="9543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88456" y="5082327"/>
            <a:ext cx="5044288" cy="11361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7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PDF report, a slide deck, and an email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500" b="1" kern="0" spc="30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66928" y="1115568"/>
            <a:ext cx="822960" cy="41148"/>
          </a:xfrm>
          <a:prstGeom prst="rect">
            <a:avLst/>
          </a:prstGeom>
          <a:solidFill>
            <a:srgbClr val="B8892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8892E"/>
          </a:solidFill>
          <a:ln/>
        </p:spPr>
      </p:sp>
      <p:sp>
        <p:nvSpPr>
          <p:cNvPr id="5" name="Text 3"/>
          <p:cNvSpPr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REQUIREMENTS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1508760"/>
            <a:ext cx="3496970" cy="4800600"/>
          </a:xfrm>
          <a:prstGeom prst="roundRect">
            <a:avLst>
              <a:gd name="adj" fmla="val 1569"/>
            </a:avLst>
          </a:prstGeom>
          <a:solidFill>
            <a:srgbClr val="132A4C"/>
          </a:solidFill>
          <a:ln/>
        </p:spPr>
      </p:sp>
      <p:sp>
        <p:nvSpPr>
          <p:cNvPr id="8" name="Text 6"/>
          <p:cNvSpPr/>
          <p:nvPr/>
        </p:nvSpPr>
        <p:spPr>
          <a:xfrm>
            <a:off x="758952" y="1636776"/>
            <a:ext cx="3167786" cy="2016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&amp; Performance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58952" y="3717036"/>
            <a:ext cx="3167786" cy="2400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7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correctly and finishes in minutes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7362" y="1508760"/>
            <a:ext cx="3496970" cy="4800600"/>
          </a:xfrm>
          <a:prstGeom prst="roundRect">
            <a:avLst>
              <a:gd name="adj" fmla="val 1569"/>
            </a:avLst>
          </a:prstGeom>
          <a:solidFill>
            <a:srgbClr val="B8892E"/>
          </a:solidFill>
          <a:ln/>
        </p:spPr>
      </p:sp>
      <p:sp>
        <p:nvSpPr>
          <p:cNvPr id="11" name="Text 9"/>
          <p:cNvSpPr/>
          <p:nvPr/>
        </p:nvSpPr>
        <p:spPr>
          <a:xfrm>
            <a:off x="4511954" y="1636776"/>
            <a:ext cx="3167786" cy="2016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&amp; Security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11954" y="3717036"/>
            <a:ext cx="3167786" cy="2400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7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add new apps; passwords stay safe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00365" y="1508760"/>
            <a:ext cx="3496970" cy="4800600"/>
          </a:xfrm>
          <a:prstGeom prst="roundRect">
            <a:avLst>
              <a:gd name="adj" fmla="val 1569"/>
            </a:avLst>
          </a:prstGeom>
          <a:solidFill>
            <a:srgbClr val="2C6E75"/>
          </a:solidFill>
          <a:ln/>
        </p:spPr>
      </p:sp>
      <p:sp>
        <p:nvSpPr>
          <p:cNvPr id="14" name="Text 12"/>
          <p:cNvSpPr/>
          <p:nvPr/>
        </p:nvSpPr>
        <p:spPr>
          <a:xfrm>
            <a:off x="8264957" y="1636776"/>
            <a:ext cx="3167786" cy="2016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 &amp; Portability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64957" y="3717036"/>
            <a:ext cx="3167786" cy="2400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7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update; can run on other platforms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32A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B8892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0" b="1" dirty="0">
                <a:solidFill>
                  <a:srgbClr val="B8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868680" y="3429000"/>
            <a:ext cx="1018001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UNDERSTANDING, EXPLORATION &amp; PREPROCESSING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96112" y="4343400"/>
            <a:ext cx="822960" cy="36576"/>
          </a:xfrm>
          <a:prstGeom prst="rect">
            <a:avLst/>
          </a:prstGeom>
          <a:solidFill>
            <a:srgbClr val="B8892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4526280"/>
            <a:ext cx="999713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data is organized, cleaned, and checked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fr-FR" sz="2800" b="1" dirty="0">
                <a:solidFill>
                  <a:srgbClr val="002060"/>
                </a:solidFill>
              </a:rPr>
              <a:t>Fact Constellation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566928" y="1115568"/>
            <a:ext cx="822960" cy="41148"/>
          </a:xfrm>
          <a:prstGeom prst="rect">
            <a:avLst/>
          </a:prstGeom>
          <a:solidFill>
            <a:srgbClr val="B8892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8892E"/>
          </a:solidFill>
          <a:ln/>
        </p:spPr>
      </p:sp>
      <p:sp>
        <p:nvSpPr>
          <p:cNvPr id="5" name="Text 3"/>
          <p:cNvSpPr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DATA</a:t>
            </a:r>
            <a:endParaRPr lang="en-US" sz="1000" dirty="0"/>
          </a:p>
        </p:txBody>
      </p:sp>
      <p:pic>
        <p:nvPicPr>
          <p:cNvPr id="8" name="Image 0" descr="/home/claude/newdeck/assets/thesis_st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1138" y="1828800"/>
            <a:ext cx="678942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500" b="1" kern="0" spc="30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KPI COMPUTATION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66928" y="1115568"/>
            <a:ext cx="822960" cy="41148"/>
          </a:xfrm>
          <a:prstGeom prst="rect">
            <a:avLst/>
          </a:prstGeom>
          <a:solidFill>
            <a:srgbClr val="B8892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8892E"/>
          </a:solidFill>
          <a:ln/>
        </p:spPr>
      </p:sp>
      <p:sp>
        <p:nvSpPr>
          <p:cNvPr id="5" name="Text 3"/>
          <p:cNvSpPr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DATA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1938528"/>
            <a:ext cx="146304" cy="146304"/>
          </a:xfrm>
          <a:prstGeom prst="rect">
            <a:avLst/>
          </a:prstGeom>
          <a:solidFill>
            <a:srgbClr val="B8892E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783080"/>
            <a:ext cx="10637215" cy="1706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 rows and fix the date format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94360" y="3645408"/>
            <a:ext cx="146304" cy="146304"/>
          </a:xfrm>
          <a:prstGeom prst="rect">
            <a:avLst/>
          </a:prstGeom>
          <a:solidFill>
            <a:srgbClr val="B8892E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3489960"/>
            <a:ext cx="10637215" cy="1706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missing values, and flag numbers that look unusual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94360" y="5352288"/>
            <a:ext cx="146304" cy="146304"/>
          </a:xfrm>
          <a:prstGeom prst="rect">
            <a:avLst/>
          </a:prstGeom>
          <a:solidFill>
            <a:srgbClr val="B8892E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5196840"/>
            <a:ext cx="10637215" cy="1706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daily, weekly, and monthly results like growth and ratings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500" b="1" kern="0" spc="30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CATALOGUE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66928" y="1115568"/>
            <a:ext cx="822960" cy="41148"/>
          </a:xfrm>
          <a:prstGeom prst="rect">
            <a:avLst/>
          </a:prstGeom>
          <a:solidFill>
            <a:srgbClr val="B8892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8892E"/>
          </a:solidFill>
          <a:ln/>
        </p:spPr>
      </p:sp>
      <p:sp>
        <p:nvSpPr>
          <p:cNvPr id="5" name="Text 3"/>
          <p:cNvSpPr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DATA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298448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daily, weekly, or monthly</a:t>
            </a:r>
            <a:endParaRPr lang="en-US" sz="135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874520"/>
          <a:ext cx="10728655" cy="2743200"/>
        </p:xfrm>
        <a:graphic>
          <a:graphicData uri="http://schemas.openxmlformats.org/drawingml/2006/table">
            <a:tbl>
              <a:tblPr/>
              <a:tblGrid>
                <a:gridCol w="3433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0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48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It's Calculated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 growth rate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change vs. the last period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 / monthly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Uninstall rate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uninstalls / installs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average rating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rating (recent ones count more)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Crash rate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 sessions / total sessions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ARPU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/ active users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32A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B8892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0" b="1" dirty="0">
                <a:solidFill>
                  <a:srgbClr val="B8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868680" y="3429000"/>
            <a:ext cx="1018001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AND EVALUATION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96112" y="4343400"/>
            <a:ext cx="822960" cy="36576"/>
          </a:xfrm>
          <a:prstGeom prst="rect">
            <a:avLst/>
          </a:prstGeom>
          <a:solidFill>
            <a:srgbClr val="B8892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4526280"/>
            <a:ext cx="999713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spot problems, and how AI explains them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500" b="1" kern="0" spc="30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APPROACH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66928" y="1115568"/>
            <a:ext cx="822960" cy="41148"/>
          </a:xfrm>
          <a:prstGeom prst="rect">
            <a:avLst/>
          </a:prstGeom>
          <a:solidFill>
            <a:srgbClr val="B8892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8892E"/>
          </a:solidFill>
          <a:ln/>
        </p:spPr>
      </p:sp>
      <p:sp>
        <p:nvSpPr>
          <p:cNvPr id="5" name="Text 3"/>
          <p:cNvSpPr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MODELING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1938528"/>
            <a:ext cx="146304" cy="146304"/>
          </a:xfrm>
          <a:prstGeom prst="rect">
            <a:avLst/>
          </a:prstGeom>
          <a:solidFill>
            <a:srgbClr val="B8892E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783080"/>
            <a:ext cx="10637215" cy="1706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result is flagged when it's very different from its recent average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94360" y="3645408"/>
            <a:ext cx="146304" cy="146304"/>
          </a:xfrm>
          <a:prstGeom prst="rect">
            <a:avLst/>
          </a:prstGeom>
          <a:solidFill>
            <a:srgbClr val="B8892E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3489960"/>
            <a:ext cx="10637215" cy="1706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math rule decides how different counts as 'too different'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94360" y="5352288"/>
            <a:ext cx="146304" cy="146304"/>
          </a:xfrm>
          <a:prstGeom prst="rect">
            <a:avLst/>
          </a:prstGeom>
          <a:solidFill>
            <a:srgbClr val="B8892E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5196840"/>
            <a:ext cx="10637215" cy="1706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 shows how serious each problem is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500" b="1" kern="0" spc="30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ANALYSIS MODULE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66928" y="1115568"/>
            <a:ext cx="822960" cy="41148"/>
          </a:xfrm>
          <a:prstGeom prst="rect">
            <a:avLst/>
          </a:prstGeom>
          <a:solidFill>
            <a:srgbClr val="B8892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8892E"/>
          </a:solidFill>
          <a:ln/>
        </p:spPr>
      </p:sp>
      <p:sp>
        <p:nvSpPr>
          <p:cNvPr id="5" name="Text 3"/>
          <p:cNvSpPr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MODELING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298448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follows examples and always answers in a fixed format</a:t>
            </a:r>
            <a:endParaRPr lang="en-US" sz="1350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E0545BAB-E3E7-4059-A8F4-2E0AA8BC7D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61927"/>
            <a:ext cx="10820095" cy="510681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500" b="1" kern="0" spc="30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STRATEGY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66928" y="1115568"/>
            <a:ext cx="822960" cy="41148"/>
          </a:xfrm>
          <a:prstGeom prst="rect">
            <a:avLst/>
          </a:prstGeom>
          <a:solidFill>
            <a:srgbClr val="B8892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8892E"/>
          </a:solidFill>
          <a:ln/>
        </p:spPr>
      </p:sp>
      <p:sp>
        <p:nvSpPr>
          <p:cNvPr id="5" name="Text 3"/>
          <p:cNvSpPr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MODELING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1508760"/>
            <a:ext cx="1995769" cy="4800600"/>
          </a:xfrm>
          <a:prstGeom prst="roundRect">
            <a:avLst>
              <a:gd name="adj" fmla="val 2749"/>
            </a:avLst>
          </a:prstGeom>
          <a:solidFill>
            <a:srgbClr val="132A4C"/>
          </a:solidFill>
          <a:ln/>
        </p:spPr>
      </p:sp>
      <p:sp>
        <p:nvSpPr>
          <p:cNvPr id="8" name="Text 6"/>
          <p:cNvSpPr/>
          <p:nvPr/>
        </p:nvSpPr>
        <p:spPr>
          <a:xfrm>
            <a:off x="758952" y="1636776"/>
            <a:ext cx="1666585" cy="2016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58952" y="3717036"/>
            <a:ext cx="1666585" cy="2400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7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small parts, like KPI math and cleaning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846161" y="1508760"/>
            <a:ext cx="1995769" cy="4800600"/>
          </a:xfrm>
          <a:prstGeom prst="roundRect">
            <a:avLst>
              <a:gd name="adj" fmla="val 2749"/>
            </a:avLst>
          </a:prstGeom>
          <a:solidFill>
            <a:srgbClr val="B8892E"/>
          </a:solidFill>
          <a:ln/>
        </p:spPr>
      </p:sp>
      <p:sp>
        <p:nvSpPr>
          <p:cNvPr id="11" name="Text 9"/>
          <p:cNvSpPr/>
          <p:nvPr/>
        </p:nvSpPr>
        <p:spPr>
          <a:xfrm>
            <a:off x="3010753" y="1636776"/>
            <a:ext cx="1666585" cy="2016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010753" y="3717036"/>
            <a:ext cx="1666585" cy="2400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7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that all parts work well together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97963" y="1508760"/>
            <a:ext cx="1995769" cy="4800600"/>
          </a:xfrm>
          <a:prstGeom prst="roundRect">
            <a:avLst>
              <a:gd name="adj" fmla="val 2749"/>
            </a:avLst>
          </a:prstGeom>
          <a:solidFill>
            <a:srgbClr val="2C6E75"/>
          </a:solidFill>
          <a:ln/>
        </p:spPr>
      </p:sp>
      <p:sp>
        <p:nvSpPr>
          <p:cNvPr id="14" name="Text 12"/>
          <p:cNvSpPr/>
          <p:nvPr/>
        </p:nvSpPr>
        <p:spPr>
          <a:xfrm>
            <a:off x="5262555" y="1636776"/>
            <a:ext cx="1666585" cy="2016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62555" y="3717036"/>
            <a:ext cx="1666585" cy="2400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7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whole process, start to finish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49764" y="1508760"/>
            <a:ext cx="1995769" cy="4800600"/>
          </a:xfrm>
          <a:prstGeom prst="roundRect">
            <a:avLst>
              <a:gd name="adj" fmla="val 2749"/>
            </a:avLst>
          </a:prstGeom>
          <a:solidFill>
            <a:srgbClr val="48506A"/>
          </a:solidFill>
          <a:ln/>
        </p:spPr>
      </p:sp>
      <p:sp>
        <p:nvSpPr>
          <p:cNvPr id="17" name="Text 15"/>
          <p:cNvSpPr/>
          <p:nvPr/>
        </p:nvSpPr>
        <p:spPr>
          <a:xfrm>
            <a:off x="7514356" y="1636776"/>
            <a:ext cx="1666585" cy="2016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Tests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514356" y="3717036"/>
            <a:ext cx="1666585" cy="2400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7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speed as more apps are added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601566" y="1508760"/>
            <a:ext cx="1995769" cy="4800600"/>
          </a:xfrm>
          <a:prstGeom prst="roundRect">
            <a:avLst>
              <a:gd name="adj" fmla="val 2749"/>
            </a:avLst>
          </a:prstGeom>
          <a:solidFill>
            <a:srgbClr val="1F3B66"/>
          </a:solidFill>
          <a:ln/>
        </p:spPr>
      </p:sp>
      <p:sp>
        <p:nvSpPr>
          <p:cNvPr id="20" name="Text 18"/>
          <p:cNvSpPr/>
          <p:nvPr/>
        </p:nvSpPr>
        <p:spPr>
          <a:xfrm>
            <a:off x="9766158" y="1636776"/>
            <a:ext cx="1666585" cy="2016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Validation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766158" y="3717036"/>
            <a:ext cx="1666585" cy="2400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7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that the AI's answers make sense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500" b="1" kern="0" spc="30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ANALYSIS — VALIDATION RESULTS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66928" y="1115568"/>
            <a:ext cx="822960" cy="41148"/>
          </a:xfrm>
          <a:prstGeom prst="rect">
            <a:avLst/>
          </a:prstGeom>
          <a:solidFill>
            <a:srgbClr val="B8892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8892E"/>
          </a:solidFill>
          <a:ln/>
        </p:spPr>
      </p:sp>
      <p:sp>
        <p:nvSpPr>
          <p:cNvPr id="5" name="Text 3"/>
          <p:cNvSpPr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MODELING</a:t>
            </a:r>
            <a:endParaRPr lang="en-US" sz="10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874520"/>
          <a:ext cx="10728654" cy="2286000"/>
        </p:xfrm>
        <a:graphic>
          <a:graphicData uri="http://schemas.openxmlformats.org/drawingml/2006/table">
            <a:tbl>
              <a:tblPr/>
              <a:tblGrid>
                <a:gridCol w="49351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5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38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38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Checked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 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made-up numbers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scenarios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20/20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the correct format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scenarios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20/20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Useful, relevant analysis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scenarios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18/20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Clear, specific advice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scenarios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16/20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500" b="1" kern="0" spc="30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RESULTS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66928" y="1115568"/>
            <a:ext cx="822960" cy="41148"/>
          </a:xfrm>
          <a:prstGeom prst="rect">
            <a:avLst/>
          </a:prstGeom>
          <a:solidFill>
            <a:srgbClr val="B8892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8892E"/>
          </a:solidFill>
          <a:ln/>
        </p:spPr>
      </p:sp>
      <p:sp>
        <p:nvSpPr>
          <p:cNvPr id="5" name="Text 3"/>
          <p:cNvSpPr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MODELING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298448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out of 6 test problems were correctly found</a:t>
            </a:r>
            <a:endParaRPr lang="en-US" sz="135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874520"/>
          <a:ext cx="10728656" cy="3200400"/>
        </p:xfrm>
        <a:graphic>
          <a:graphicData uri="http://schemas.openxmlformats.org/drawingml/2006/table">
            <a:tbl>
              <a:tblPr/>
              <a:tblGrid>
                <a:gridCol w="10728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643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11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03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Problem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Sudden rating drop (App 1, Android)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Uninstall spike (App 2, iOS)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 rating decline (App 3, Android)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Uninstall spike (App 1, iOS)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crash-rate change (App 2, Android)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Sudden rating drop (App 3, iOS)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32A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B8892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0" b="1" dirty="0">
                <a:solidFill>
                  <a:srgbClr val="B8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868680" y="3429000"/>
            <a:ext cx="1018001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VISUALISATION, DATA STORAGE AND WEB INTEGRATION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96112" y="4343400"/>
            <a:ext cx="822960" cy="36576"/>
          </a:xfrm>
          <a:prstGeom prst="rect">
            <a:avLst/>
          </a:prstGeom>
          <a:solidFill>
            <a:srgbClr val="B8892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4526280"/>
            <a:ext cx="999713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is stored, automated, and shown to users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500" b="1" kern="0" spc="30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— N8N WORKFLOW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66928" y="1115568"/>
            <a:ext cx="822960" cy="41148"/>
          </a:xfrm>
          <a:prstGeom prst="rect">
            <a:avLst/>
          </a:prstGeom>
          <a:solidFill>
            <a:srgbClr val="B8892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8892E"/>
          </a:solidFill>
          <a:ln/>
        </p:spPr>
      </p:sp>
      <p:sp>
        <p:nvSpPr>
          <p:cNvPr id="5" name="Text 3"/>
          <p:cNvSpPr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VISUALISATION</a:t>
            </a:r>
            <a:endParaRPr lang="en-US" sz="1000" dirty="0"/>
          </a:p>
        </p:txBody>
      </p:sp>
      <p:pic>
        <p:nvPicPr>
          <p:cNvPr id="8" name="Image 0" descr="/home/claude/newdeck/assets/thesis_n8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50" y="1179576"/>
            <a:ext cx="10382250" cy="517550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fr-FR" sz="2800" b="1" dirty="0">
                <a:solidFill>
                  <a:srgbClr val="002060"/>
                </a:solidFill>
              </a:rPr>
              <a:t>Data Storage &amp; Security</a:t>
            </a:r>
            <a:endParaRPr lang="en-US" sz="2500" b="1" dirty="0">
              <a:solidFill>
                <a:srgbClr val="002060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566928" y="1115568"/>
            <a:ext cx="822960" cy="41148"/>
          </a:xfrm>
          <a:prstGeom prst="rect">
            <a:avLst/>
          </a:prstGeom>
          <a:solidFill>
            <a:srgbClr val="B8892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8892E"/>
          </a:solidFill>
          <a:ln/>
        </p:spPr>
      </p:sp>
      <p:sp>
        <p:nvSpPr>
          <p:cNvPr id="5" name="Text 3"/>
          <p:cNvSpPr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36AA4E84-2067-46BB-B5EC-D9261CB42E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917" y="1395412"/>
            <a:ext cx="9739159" cy="513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0813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500" b="1" kern="0" spc="30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66928" y="1115568"/>
            <a:ext cx="822960" cy="41148"/>
          </a:xfrm>
          <a:prstGeom prst="rect">
            <a:avLst/>
          </a:prstGeom>
          <a:solidFill>
            <a:srgbClr val="B8892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8892E"/>
          </a:solidFill>
          <a:ln/>
        </p:spPr>
      </p:sp>
      <p:sp>
        <p:nvSpPr>
          <p:cNvPr id="5" name="Text 3"/>
          <p:cNvSpPr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VISUALISATION</a:t>
            </a:r>
            <a:endParaRPr lang="en-US" sz="1000" dirty="0"/>
          </a:p>
        </p:txBody>
      </p:sp>
      <p:pic>
        <p:nvPicPr>
          <p:cNvPr id="7" name="Image 0" descr="/home/claude/newdeck/assets/thesis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5398" y="1554480"/>
            <a:ext cx="72009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500" b="1" kern="0" spc="30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RESULTS — IOS VS GOOGLE PLAY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66928" y="1115568"/>
            <a:ext cx="822960" cy="41148"/>
          </a:xfrm>
          <a:prstGeom prst="rect">
            <a:avLst/>
          </a:prstGeom>
          <a:solidFill>
            <a:srgbClr val="B8892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8892E"/>
          </a:solidFill>
          <a:ln/>
        </p:spPr>
      </p:sp>
      <p:sp>
        <p:nvSpPr>
          <p:cNvPr id="5" name="Text 3"/>
          <p:cNvSpPr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VISUALISATION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298448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weekly performance report, March 1–7, 2026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1810512"/>
            <a:ext cx="5318608" cy="457200"/>
          </a:xfrm>
          <a:prstGeom prst="rect">
            <a:avLst/>
          </a:prstGeom>
          <a:solidFill>
            <a:srgbClr val="132A4C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810512"/>
            <a:ext cx="5318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2404872"/>
            <a:ext cx="5318608" cy="914400"/>
          </a:xfrm>
          <a:prstGeom prst="roundRect">
            <a:avLst>
              <a:gd name="adj" fmla="val 6000"/>
            </a:avLst>
          </a:prstGeom>
          <a:solidFill>
            <a:srgbClr val="F3F4F7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459736"/>
            <a:ext cx="5318608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375,775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94360" y="3008376"/>
            <a:ext cx="5318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3456432"/>
            <a:ext cx="5318608" cy="914400"/>
          </a:xfrm>
          <a:prstGeom prst="roundRect">
            <a:avLst>
              <a:gd name="adj" fmla="val 6000"/>
            </a:avLst>
          </a:prstGeom>
          <a:solidFill>
            <a:srgbClr val="F3F4F7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511296"/>
            <a:ext cx="5318608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30,669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94360" y="4059936"/>
            <a:ext cx="5318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" y="4507992"/>
            <a:ext cx="5318608" cy="914400"/>
          </a:xfrm>
          <a:prstGeom prst="roundRect">
            <a:avLst>
              <a:gd name="adj" fmla="val 6000"/>
            </a:avLst>
          </a:prstGeom>
          <a:solidFill>
            <a:srgbClr val="F3F4F7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4562856"/>
            <a:ext cx="5318608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~10%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94360" y="5111496"/>
            <a:ext cx="5318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78728" y="1810512"/>
            <a:ext cx="5318608" cy="457200"/>
          </a:xfrm>
          <a:prstGeom prst="rect">
            <a:avLst/>
          </a:prstGeom>
          <a:solidFill>
            <a:srgbClr val="B8892E"/>
          </a:solidFill>
          <a:ln/>
        </p:spPr>
      </p:sp>
      <p:sp>
        <p:nvSpPr>
          <p:cNvPr id="20" name="Text 18"/>
          <p:cNvSpPr/>
          <p:nvPr/>
        </p:nvSpPr>
        <p:spPr>
          <a:xfrm>
            <a:off x="6278728" y="1810512"/>
            <a:ext cx="5318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Play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78728" y="2404872"/>
            <a:ext cx="5318608" cy="914400"/>
          </a:xfrm>
          <a:prstGeom prst="roundRect">
            <a:avLst>
              <a:gd name="adj" fmla="val 6000"/>
            </a:avLst>
          </a:prstGeom>
          <a:solidFill>
            <a:srgbClr val="F3F4F7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78728" y="2459736"/>
            <a:ext cx="5318608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B8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16,687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278728" y="3008376"/>
            <a:ext cx="5318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78728" y="3456432"/>
            <a:ext cx="5318608" cy="914400"/>
          </a:xfrm>
          <a:prstGeom prst="roundRect">
            <a:avLst>
              <a:gd name="adj" fmla="val 6000"/>
            </a:avLst>
          </a:prstGeom>
          <a:solidFill>
            <a:srgbClr val="F3F4F7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78728" y="3511296"/>
            <a:ext cx="5318608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B8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2,915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278728" y="4059936"/>
            <a:ext cx="5318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78728" y="4507992"/>
            <a:ext cx="5318608" cy="914400"/>
          </a:xfrm>
          <a:prstGeom prst="roundRect">
            <a:avLst>
              <a:gd name="adj" fmla="val 6000"/>
            </a:avLst>
          </a:prstGeom>
          <a:solidFill>
            <a:srgbClr val="F3F4F7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78728" y="4562856"/>
            <a:ext cx="5318608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B8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~17.5%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278728" y="5111496"/>
            <a:ext cx="5318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94360" y="5623560"/>
            <a:ext cx="54864" cy="685800"/>
          </a:xfrm>
          <a:prstGeom prst="rect">
            <a:avLst/>
          </a:prstGeom>
          <a:solidFill>
            <a:srgbClr val="B8892E"/>
          </a:solidFill>
          <a:ln/>
        </p:spPr>
      </p:sp>
      <p:sp>
        <p:nvSpPr>
          <p:cNvPr id="31" name="Text 29"/>
          <p:cNvSpPr/>
          <p:nvPr/>
        </p:nvSpPr>
        <p:spPr>
          <a:xfrm>
            <a:off x="868680" y="5623560"/>
            <a:ext cx="1054577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anomaly caught: iOS saw a spike of 117,000 impressions on March 2 with only 3.12% conversion — exactly the kind of pattern this project's anomaly detection is designed to flag.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32A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B8892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0" b="1" dirty="0">
                <a:solidFill>
                  <a:srgbClr val="B8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868680" y="3429000"/>
            <a:ext cx="1018001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96112" y="4343400"/>
            <a:ext cx="822960" cy="36576"/>
          </a:xfrm>
          <a:prstGeom prst="rect">
            <a:avLst/>
          </a:prstGeom>
          <a:solidFill>
            <a:srgbClr val="B8892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4526280"/>
            <a:ext cx="999713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achieved, what's missing, and what's next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500" b="1" kern="0" spc="30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 &amp; LIMITATIONS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66928" y="1115568"/>
            <a:ext cx="822960" cy="41148"/>
          </a:xfrm>
          <a:prstGeom prst="rect">
            <a:avLst/>
          </a:prstGeom>
          <a:solidFill>
            <a:srgbClr val="B8892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8892E"/>
          </a:solidFill>
          <a:ln/>
        </p:spPr>
      </p:sp>
      <p:sp>
        <p:nvSpPr>
          <p:cNvPr id="5" name="Text 3"/>
          <p:cNvSpPr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CONCLUSION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1938528"/>
            <a:ext cx="146304" cy="146304"/>
          </a:xfrm>
          <a:prstGeom prst="rect">
            <a:avLst/>
          </a:prstGeom>
          <a:solidFill>
            <a:srgbClr val="B8892E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783080"/>
            <a:ext cx="9422129" cy="21983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To summarize my contribution: I built a working system that genuinely combines data engineering, cloud infrastructure, and generative AI, and I grounded it in a real </a:t>
            </a:r>
            <a:r>
              <a:rPr lang="en-US" dirty="0" err="1"/>
              <a:t>AppASO</a:t>
            </a:r>
            <a:r>
              <a:rPr lang="en-US" dirty="0"/>
              <a:t> performance report rather than working purely in the abstract.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Importantly, I proved that a properly constrained LLM can be fully factually reliable in this context, across 20 test scenarios.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The system was built and validated under controlled conditions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32A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B8892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651760"/>
            <a:ext cx="103628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868680" y="3520440"/>
            <a:ext cx="914400" cy="41148"/>
          </a:xfrm>
          <a:prstGeom prst="rect">
            <a:avLst/>
          </a:prstGeom>
          <a:solidFill>
            <a:srgbClr val="B8892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3703320"/>
            <a:ext cx="103628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3700</TotalTime>
  <Words>1271</Words>
  <Application>Microsoft Office PowerPoint</Application>
  <PresentationFormat>Grand écran</PresentationFormat>
  <Paragraphs>326</Paragraphs>
  <Slides>35</Slides>
  <Notes>35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balsam bendhif</cp:lastModifiedBy>
  <cp:revision>18</cp:revision>
  <dcterms:created xsi:type="dcterms:W3CDTF">2026-09-05T13:12:56Z</dcterms:created>
  <dcterms:modified xsi:type="dcterms:W3CDTF">2026-10-07T13:00:12Z</dcterms:modified>
</cp:coreProperties>
</file>